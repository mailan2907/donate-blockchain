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1066" y="11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3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5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2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0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2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3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9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58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4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43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77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3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4C510F2-7255-D7C3-9DCD-43BEBE1666BB}"/>
              </a:ext>
            </a:extLst>
          </p:cNvPr>
          <p:cNvGrpSpPr/>
          <p:nvPr/>
        </p:nvGrpSpPr>
        <p:grpSpPr>
          <a:xfrm>
            <a:off x="6009740" y="1966271"/>
            <a:ext cx="683266" cy="212921"/>
            <a:chOff x="6071533" y="2181217"/>
            <a:chExt cx="683266" cy="21544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A57E6C6-5BC4-200A-55C5-E63038F9478E}"/>
                </a:ext>
              </a:extLst>
            </p:cNvPr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>
              <a:extLst>
                <a:ext uri="{FF2B5EF4-FFF2-40B4-BE49-F238E27FC236}">
                  <a16:creationId xmlns:a16="http://schemas.microsoft.com/office/drawing/2014/main" id="{4C95027D-6E4F-D713-8DAE-329A92FB3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BFABA5-206B-548E-3C0E-CC2EE202A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881484"/>
              </p:ext>
            </p:extLst>
          </p:nvPr>
        </p:nvGraphicFramePr>
        <p:xfrm>
          <a:off x="71979" y="2356347"/>
          <a:ext cx="3890421" cy="1433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438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Giới thiệu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9349">
                <a:tc>
                  <a:txBody>
                    <a:bodyPr/>
                    <a:lstStyle/>
                    <a:p>
                      <a:pPr algn="just"/>
                      <a:r>
                        <a:rPr lang="vi-VN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Ứng dụng quyên góp từ thiện trên </a:t>
                      </a:r>
                      <a:r>
                        <a:rPr lang="vi-VN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blockchain</a:t>
                      </a:r>
                      <a:r>
                        <a:rPr lang="vi-VN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: quyên góp qua </a:t>
                      </a:r>
                      <a:r>
                        <a:rPr lang="vi-VN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MetaMask</a:t>
                      </a:r>
                      <a:r>
                        <a:rPr lang="vi-VN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, dữ liệu </a:t>
                      </a:r>
                      <a:r>
                        <a:rPr lang="vi-VN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on-chain</a:t>
                      </a:r>
                      <a:r>
                        <a:rPr lang="vi-VN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công khai, quản lý rút tiền và minh chứng chi tiêu có kiểm soát — hướng tới minh bạch </a:t>
                      </a:r>
                      <a:r>
                        <a:rPr lang="vi-VN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end</a:t>
                      </a:r>
                      <a:r>
                        <a:rPr lang="vi-VN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-to-</a:t>
                      </a:r>
                      <a:r>
                        <a:rPr lang="vi-VN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end</a:t>
                      </a:r>
                      <a:r>
                        <a:rPr lang="vi-VN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  <a:endParaRPr lang="en-US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just"/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Mục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tiêu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giảm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thiếu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tin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cậy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trong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quyên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góp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truyền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—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số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tiền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người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quyên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góp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luồng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rút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/chi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đều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có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dấu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vết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kiểm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chứng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được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Dự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án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triển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khai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trên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Sepolia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testnet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để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thử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nghiệm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an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toàn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trước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khi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đưa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lên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mạng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chính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  <a:endParaRPr lang="vi-VN" sz="10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6751592-98ED-BE76-ED93-630A31DC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793763"/>
              </p:ext>
            </p:extLst>
          </p:nvPr>
        </p:nvGraphicFramePr>
        <p:xfrm>
          <a:off x="4027952" y="2360409"/>
          <a:ext cx="2789416" cy="3731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411419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Kiến trúc hệ thống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332009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pSp>
        <p:nvGrpSpPr>
          <p:cNvPr id="70" name="Group 69">
            <a:extLst>
              <a:ext uri="{FF2B5EF4-FFF2-40B4-BE49-F238E27FC236}">
                <a16:creationId xmlns:a16="http://schemas.microsoft.com/office/drawing/2014/main" id="{518BA7C7-D5B3-521F-4863-EB6372F08A16}"/>
              </a:ext>
            </a:extLst>
          </p:cNvPr>
          <p:cNvGrpSpPr/>
          <p:nvPr/>
        </p:nvGrpSpPr>
        <p:grpSpPr>
          <a:xfrm>
            <a:off x="0" y="-39866"/>
            <a:ext cx="6858000" cy="2289646"/>
            <a:chOff x="0" y="-40063"/>
            <a:chExt cx="6858000" cy="228964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76F30E7-DE29-4869-A261-9356210766F3}"/>
                </a:ext>
              </a:extLst>
            </p:cNvPr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7ABF4E65-9336-CED4-40B5-828F0E50C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6C724AE-79C3-CBF7-13D9-AFB8C50186BA}"/>
                  </a:ext>
                </a:extLst>
              </p:cNvPr>
              <p:cNvSpPr txBox="1"/>
              <p:nvPr/>
            </p:nvSpPr>
            <p:spPr>
              <a:xfrm>
                <a:off x="2370087" y="-40063"/>
                <a:ext cx="21291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TRƯỜNG ĐẠI HỌC ĐẠI NAM</a:t>
                </a: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 Hebrew Scholar" pitchFamily="2" charset="-79"/>
                    <a:cs typeface="Arial Hebrew Scholar" pitchFamily="2" charset="-79"/>
                  </a:rPr>
                  <a:t>KHOA CÔNG NGHỆ THÔNG TIN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6EBD40C-8A27-10B2-BA61-9E94053E57EA}"/>
                </a:ext>
              </a:extLst>
            </p:cNvPr>
            <p:cNvGrpSpPr/>
            <p:nvPr/>
          </p:nvGrpSpPr>
          <p:grpSpPr>
            <a:xfrm>
              <a:off x="0" y="1082578"/>
              <a:ext cx="6858000" cy="1167005"/>
              <a:chOff x="0" y="1082578"/>
              <a:chExt cx="6858000" cy="1167005"/>
            </a:xfrm>
          </p:grpSpPr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3D9E4F7B-BDBB-AF4A-B4AD-63280788DE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082578"/>
                <a:ext cx="6765928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200" b="1" dirty="0">
                    <a:solidFill>
                      <a:schemeClr val="accent2"/>
                    </a:solidFill>
                    <a:latin typeface="Arial Hebrew Scholar" pitchFamily="2" charset="-79"/>
                    <a:cs typeface="Arial Hebrew Scholar" pitchFamily="2" charset="-79"/>
                  </a:rPr>
                  <a:t>HỆ THỐNG QUYÊN GÓP MINH BẠCH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DB71301-74E9-3D33-787D-882C46CB1337}"/>
                  </a:ext>
                </a:extLst>
              </p:cNvPr>
              <p:cNvSpPr/>
              <p:nvPr/>
            </p:nvSpPr>
            <p:spPr>
              <a:xfrm>
                <a:off x="0" y="13379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799" b="1" dirty="0"/>
                  <a:t>Tran Dang Cong, Nguyen </a:t>
                </a:r>
                <a:r>
                  <a:rPr lang="en-US" sz="799" b="1" dirty="0" err="1"/>
                  <a:t>Thi</a:t>
                </a:r>
                <a:r>
                  <a:rPr lang="en-US" sz="799" b="1" dirty="0"/>
                  <a:t> Mai Lan</a:t>
                </a:r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77C1551A-D245-378A-F0E2-59C5BABF9F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1CED74D1-B04A-EC38-34C4-DD7DDC446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235305"/>
              </p:ext>
            </p:extLst>
          </p:nvPr>
        </p:nvGraphicFramePr>
        <p:xfrm>
          <a:off x="4023342" y="6091918"/>
          <a:ext cx="2789415" cy="192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255726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Công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nghệ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sử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670284">
                <a:tc>
                  <a:txBody>
                    <a:bodyPr/>
                    <a:lstStyle/>
                    <a:p>
                      <a:pPr algn="just"/>
                      <a:endParaRPr lang="vi-VN" sz="900" dirty="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232FA873-71B4-C434-9F8C-88FB366D9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934946"/>
              </p:ext>
            </p:extLst>
          </p:nvPr>
        </p:nvGraphicFramePr>
        <p:xfrm>
          <a:off x="71978" y="3794556"/>
          <a:ext cx="3890421" cy="6055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0421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2232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581134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33821"/>
                  </a:ext>
                </a:extLst>
              </a:tr>
            </a:tbl>
          </a:graphicData>
        </a:graphic>
      </p:graphicFrame>
      <p:graphicFrame>
        <p:nvGraphicFramePr>
          <p:cNvPr id="90" name="Table 89">
            <a:extLst>
              <a:ext uri="{FF2B5EF4-FFF2-40B4-BE49-F238E27FC236}">
                <a16:creationId xmlns:a16="http://schemas.microsoft.com/office/drawing/2014/main" id="{0335167A-EED6-A656-BA4F-2AD2225BD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372648"/>
              </p:ext>
            </p:extLst>
          </p:nvPr>
        </p:nvGraphicFramePr>
        <p:xfrm>
          <a:off x="4027950" y="8068432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>
                  <a:extLst>
                    <a:ext uri="{9D8B030D-6E8A-4147-A177-3AD203B41FA5}">
                      <a16:colId xmlns:a16="http://schemas.microsoft.com/office/drawing/2014/main" val="1520847292"/>
                    </a:ext>
                  </a:extLst>
                </a:gridCol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Hướng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triển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013272"/>
                  </a:ext>
                </a:extLst>
              </a:tr>
              <a:tr h="1182341">
                <a:tc>
                  <a:txBody>
                    <a:bodyPr/>
                    <a:lstStyle/>
                    <a:p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Hướng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triển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Mở</a:t>
                      </a: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rộng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— Stablecoin,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nhiều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ví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đa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chiến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dịch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giao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mobile.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Tin </a:t>
                      </a:r>
                      <a:r>
                        <a:rPr lang="en-US" sz="1000" b="1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cậy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— Multi-sig /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timelock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rút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tiền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; (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tuỳ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chọn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bỏ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phiếu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cộng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đồng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trước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khi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chi.</a:t>
                      </a:r>
                    </a:p>
                    <a:p>
                      <a:endParaRPr lang="en-US" sz="1000" b="0" i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0843"/>
                  </a:ext>
                </a:extLst>
              </a:tr>
            </a:tbl>
          </a:graphicData>
        </a:graphic>
      </p:graphicFrame>
      <p:sp>
        <p:nvSpPr>
          <p:cNvPr id="92" name="TextBox 91">
            <a:extLst>
              <a:ext uri="{FF2B5EF4-FFF2-40B4-BE49-F238E27FC236}">
                <a16:creationId xmlns:a16="http://schemas.microsoft.com/office/drawing/2014/main" id="{A0C06921-7CE0-2846-54DF-FEF2E2972390}"/>
              </a:ext>
            </a:extLst>
          </p:cNvPr>
          <p:cNvSpPr txBox="1"/>
          <p:nvPr/>
        </p:nvSpPr>
        <p:spPr>
          <a:xfrm>
            <a:off x="3943438" y="9586860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C0199E43-9419-C9F8-D042-69200B923F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725" y="1268410"/>
            <a:ext cx="681087" cy="681087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E20738A6-3D8E-7F93-F6E9-F08D1CA7CB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197" y="4274931"/>
            <a:ext cx="3513145" cy="2060962"/>
          </a:xfrm>
          <a:prstGeom prst="rect">
            <a:avLst/>
          </a:prstGeom>
        </p:spPr>
      </p:pic>
      <p:pic>
        <p:nvPicPr>
          <p:cNvPr id="10" name="Hình ảnh 9">
            <a:extLst>
              <a:ext uri="{FF2B5EF4-FFF2-40B4-BE49-F238E27FC236}">
                <a16:creationId xmlns:a16="http://schemas.microsoft.com/office/drawing/2014/main" id="{D0481934-EA0B-421F-6B48-824E634658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738" y="7877625"/>
            <a:ext cx="3504604" cy="1709235"/>
          </a:xfrm>
          <a:prstGeom prst="rect">
            <a:avLst/>
          </a:prstGeom>
        </p:spPr>
      </p:pic>
      <p:pic>
        <p:nvPicPr>
          <p:cNvPr id="12" name="Hình ảnh 11">
            <a:extLst>
              <a:ext uri="{FF2B5EF4-FFF2-40B4-BE49-F238E27FC236}">
                <a16:creationId xmlns:a16="http://schemas.microsoft.com/office/drawing/2014/main" id="{C05DDEB0-B902-C1EE-52F4-53B141C40F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V="1">
            <a:off x="367347" y="6405397"/>
            <a:ext cx="3462995" cy="1402723"/>
          </a:xfrm>
          <a:prstGeom prst="rect">
            <a:avLst/>
          </a:prstGeom>
        </p:spPr>
      </p:pic>
      <p:pic>
        <p:nvPicPr>
          <p:cNvPr id="14" name="Hình ảnh 13">
            <a:extLst>
              <a:ext uri="{FF2B5EF4-FFF2-40B4-BE49-F238E27FC236}">
                <a16:creationId xmlns:a16="http://schemas.microsoft.com/office/drawing/2014/main" id="{2DF077BD-E28C-6984-78E3-4271594E07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2936" y="2814173"/>
            <a:ext cx="2578404" cy="3195213"/>
          </a:xfrm>
          <a:prstGeom prst="rect">
            <a:avLst/>
          </a:prstGeom>
        </p:spPr>
      </p:pic>
      <p:pic>
        <p:nvPicPr>
          <p:cNvPr id="16" name="Hình ảnh 15">
            <a:extLst>
              <a:ext uri="{FF2B5EF4-FFF2-40B4-BE49-F238E27FC236}">
                <a16:creationId xmlns:a16="http://schemas.microsoft.com/office/drawing/2014/main" id="{B6D198CA-A0BF-54DA-1B48-A7AA99CB42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20181" y="6410040"/>
            <a:ext cx="2472825" cy="156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69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678</TotalTime>
  <Words>183</Words>
  <Application>Microsoft Office PowerPoint</Application>
  <PresentationFormat>Khổ A4 (210x297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</vt:i4>
      </vt:variant>
    </vt:vector>
  </HeadingPairs>
  <TitlesOfParts>
    <vt:vector size="6" baseType="lpstr">
      <vt:lpstr>Arial Hebrew Scholar</vt:lpstr>
      <vt:lpstr>Arial</vt:lpstr>
      <vt:lpstr>Calibri</vt:lpstr>
      <vt:lpstr>Calibri Light</vt:lpstr>
      <vt:lpstr>Office Theme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Vu Sang</cp:lastModifiedBy>
  <cp:revision>99</cp:revision>
  <dcterms:created xsi:type="dcterms:W3CDTF">2023-07-02T07:57:15Z</dcterms:created>
  <dcterms:modified xsi:type="dcterms:W3CDTF">2026-06-04T07:08:16Z</dcterms:modified>
</cp:coreProperties>
</file>